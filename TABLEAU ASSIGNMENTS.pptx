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4"/>
  </p:sldMasterIdLst>
  <p:notesMasterIdLst>
    <p:notesMasterId r:id="rId16"/>
  </p:notesMasterIdLst>
  <p:handoutMasterIdLst>
    <p:handoutMasterId r:id="rId17"/>
  </p:handoutMasterIdLst>
  <p:sldIdLst>
    <p:sldId id="256" r:id="rId5"/>
    <p:sldId id="262" r:id="rId6"/>
    <p:sldId id="264" r:id="rId7"/>
    <p:sldId id="263" r:id="rId8"/>
    <p:sldId id="265" r:id="rId9"/>
    <p:sldId id="266" r:id="rId10"/>
    <p:sldId id="267" r:id="rId11"/>
    <p:sldId id="268" r:id="rId12"/>
    <p:sldId id="269" r:id="rId13"/>
    <p:sldId id="270"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4B93"/>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48" autoAdjust="0"/>
  </p:normalViewPr>
  <p:slideViewPr>
    <p:cSldViewPr snapToGrid="0">
      <p:cViewPr varScale="1">
        <p:scale>
          <a:sx n="80" d="100"/>
          <a:sy n="80" d="100"/>
        </p:scale>
        <p:origin x="58" y="15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11/2/2025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11/2/2025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11</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5D708-1A6C-4A19-9559-62465C8116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845B61-0EC0-4CF1-A69B-4143DA5615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FF2288-59A7-47E7-9613-85A922912BB9}"/>
              </a:ext>
            </a:extLst>
          </p:cNvPr>
          <p:cNvSpPr>
            <a:spLocks noGrp="1"/>
          </p:cNvSpPr>
          <p:nvPr>
            <p:ph type="dt" sz="half" idx="10"/>
          </p:nvPr>
        </p:nvSpPr>
        <p:spPr/>
        <p:txBody>
          <a:bodyPr/>
          <a:lstStyle/>
          <a:p>
            <a:fld id="{B61BEF0D-F0BB-DE4B-95CE-6DB70DBA9567}" type="datetimeFigureOut">
              <a:rPr lang="en-US" smtClean="0"/>
              <a:pPr/>
              <a:t>11/2/2025</a:t>
            </a:fld>
            <a:endParaRPr lang="en-US" dirty="0"/>
          </a:p>
        </p:txBody>
      </p:sp>
      <p:sp>
        <p:nvSpPr>
          <p:cNvPr id="5" name="Footer Placeholder 4">
            <a:extLst>
              <a:ext uri="{FF2B5EF4-FFF2-40B4-BE49-F238E27FC236}">
                <a16:creationId xmlns:a16="http://schemas.microsoft.com/office/drawing/2014/main" id="{422B6EF3-7848-426E-8C60-CC3A0A8273A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B4381C-3D97-4895-A692-75C5D30C487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2562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D40D8-7CB8-4843-8539-B84DE4BA01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BB1CD5-BF70-46DB-8731-D0260A769F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1E331A-67D3-4D5A-9A42-1829A521CC87}"/>
              </a:ext>
            </a:extLst>
          </p:cNvPr>
          <p:cNvSpPr>
            <a:spLocks noGrp="1"/>
          </p:cNvSpPr>
          <p:nvPr>
            <p:ph type="dt" sz="half" idx="10"/>
          </p:nvPr>
        </p:nvSpPr>
        <p:spPr/>
        <p:txBody>
          <a:bodyPr/>
          <a:lstStyle/>
          <a:p>
            <a:fld id="{B61BEF0D-F0BB-DE4B-95CE-6DB70DBA9567}" type="datetimeFigureOut">
              <a:rPr lang="en-US" smtClean="0"/>
              <a:pPr/>
              <a:t>11/2/2025</a:t>
            </a:fld>
            <a:endParaRPr lang="en-US" dirty="0"/>
          </a:p>
        </p:txBody>
      </p:sp>
      <p:sp>
        <p:nvSpPr>
          <p:cNvPr id="5" name="Footer Placeholder 4">
            <a:extLst>
              <a:ext uri="{FF2B5EF4-FFF2-40B4-BE49-F238E27FC236}">
                <a16:creationId xmlns:a16="http://schemas.microsoft.com/office/drawing/2014/main" id="{74A1BC6D-6F5A-46DD-91A5-DE9C2FEC910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4E987A3-1694-4F69-97A5-91F14AB7EDC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0040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5C657-59A6-4A5B-9BE4-BC961A3CF6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AC8E4E5-DAD9-44B5-816D-9E46B832E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7BD01B-CAD9-4FBF-A05D-66E449B4C57F}"/>
              </a:ext>
            </a:extLst>
          </p:cNvPr>
          <p:cNvSpPr>
            <a:spLocks noGrp="1"/>
          </p:cNvSpPr>
          <p:nvPr>
            <p:ph type="dt" sz="half" idx="10"/>
          </p:nvPr>
        </p:nvSpPr>
        <p:spPr/>
        <p:txBody>
          <a:bodyPr/>
          <a:lstStyle/>
          <a:p>
            <a:fld id="{B61BEF0D-F0BB-DE4B-95CE-6DB70DBA9567}" type="datetimeFigureOut">
              <a:rPr lang="en-US" smtClean="0"/>
              <a:pPr/>
              <a:t>11/2/2025</a:t>
            </a:fld>
            <a:endParaRPr lang="en-US" dirty="0"/>
          </a:p>
        </p:txBody>
      </p:sp>
      <p:sp>
        <p:nvSpPr>
          <p:cNvPr id="5" name="Footer Placeholder 4">
            <a:extLst>
              <a:ext uri="{FF2B5EF4-FFF2-40B4-BE49-F238E27FC236}">
                <a16:creationId xmlns:a16="http://schemas.microsoft.com/office/drawing/2014/main" id="{C471AF33-DC77-4FF5-98F3-3D1E2CD925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135313D-E5F5-42DC-A4F2-BFE3E208427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24619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2B8B0-1224-4DA9-BE07-B7FBDB6C75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8AAA26-BC7F-4859-A5E5-93EE751680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C856B7C-50E0-4FC3-AE6F-D289D1CB4B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1841148-D9B4-44B1-8028-09E467F17278}"/>
              </a:ext>
            </a:extLst>
          </p:cNvPr>
          <p:cNvSpPr>
            <a:spLocks noGrp="1"/>
          </p:cNvSpPr>
          <p:nvPr>
            <p:ph type="dt" sz="half" idx="10"/>
          </p:nvPr>
        </p:nvSpPr>
        <p:spPr/>
        <p:txBody>
          <a:bodyPr/>
          <a:lstStyle/>
          <a:p>
            <a:fld id="{B61BEF0D-F0BB-DE4B-95CE-6DB70DBA9567}" type="datetimeFigureOut">
              <a:rPr lang="en-US" smtClean="0"/>
              <a:pPr/>
              <a:t>11/2/2025</a:t>
            </a:fld>
            <a:endParaRPr lang="en-US" dirty="0"/>
          </a:p>
        </p:txBody>
      </p:sp>
      <p:sp>
        <p:nvSpPr>
          <p:cNvPr id="6" name="Footer Placeholder 5">
            <a:extLst>
              <a:ext uri="{FF2B5EF4-FFF2-40B4-BE49-F238E27FC236}">
                <a16:creationId xmlns:a16="http://schemas.microsoft.com/office/drawing/2014/main" id="{2EC9B03D-A2B6-4896-A940-21A7108D9A3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1D405C6-C5A5-4497-9980-48FE062A1D0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8595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47DA4-BFD3-4BDA-95D1-53C77A31AA6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0F9113-7781-4996-AB51-CA27294EEB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3663D7-3736-4BD5-BB95-7F17CDC942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F4BA06D-E664-4064-918E-76AC82FA01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524774-3AB5-440F-9318-530B841CC6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3DF096-43BF-42B8-ABF1-F8C80B403AA8}"/>
              </a:ext>
            </a:extLst>
          </p:cNvPr>
          <p:cNvSpPr>
            <a:spLocks noGrp="1"/>
          </p:cNvSpPr>
          <p:nvPr>
            <p:ph type="dt" sz="half" idx="10"/>
          </p:nvPr>
        </p:nvSpPr>
        <p:spPr/>
        <p:txBody>
          <a:bodyPr/>
          <a:lstStyle/>
          <a:p>
            <a:fld id="{B61BEF0D-F0BB-DE4B-95CE-6DB70DBA9567}" type="datetimeFigureOut">
              <a:rPr lang="en-US" smtClean="0"/>
              <a:pPr/>
              <a:t>11/2/2025</a:t>
            </a:fld>
            <a:endParaRPr lang="en-US" dirty="0"/>
          </a:p>
        </p:txBody>
      </p:sp>
      <p:sp>
        <p:nvSpPr>
          <p:cNvPr id="8" name="Footer Placeholder 7">
            <a:extLst>
              <a:ext uri="{FF2B5EF4-FFF2-40B4-BE49-F238E27FC236}">
                <a16:creationId xmlns:a16="http://schemas.microsoft.com/office/drawing/2014/main" id="{5C57645F-BA51-440A-9991-789F869886B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E038CB9-0ABF-4DAA-8720-4E24D588B5E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7014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B957-09B6-4ABF-A232-13DABE8C43C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38FA0CE-7E98-4572-839C-A804B1B2843F}"/>
              </a:ext>
            </a:extLst>
          </p:cNvPr>
          <p:cNvSpPr>
            <a:spLocks noGrp="1"/>
          </p:cNvSpPr>
          <p:nvPr>
            <p:ph type="dt" sz="half" idx="10"/>
          </p:nvPr>
        </p:nvSpPr>
        <p:spPr/>
        <p:txBody>
          <a:bodyPr/>
          <a:lstStyle/>
          <a:p>
            <a:fld id="{B61BEF0D-F0BB-DE4B-95CE-6DB70DBA9567}" type="datetimeFigureOut">
              <a:rPr lang="en-US" smtClean="0"/>
              <a:pPr/>
              <a:t>11/2/2025</a:t>
            </a:fld>
            <a:endParaRPr lang="en-US" dirty="0"/>
          </a:p>
        </p:txBody>
      </p:sp>
      <p:sp>
        <p:nvSpPr>
          <p:cNvPr id="4" name="Footer Placeholder 3">
            <a:extLst>
              <a:ext uri="{FF2B5EF4-FFF2-40B4-BE49-F238E27FC236}">
                <a16:creationId xmlns:a16="http://schemas.microsoft.com/office/drawing/2014/main" id="{D9E42295-95B2-49E9-B9FD-71F5C095177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F8F2938-7D49-4C08-876A-1DC44FD52CB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00795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E1DDDD-B22C-4B30-9245-6ECF0E3FCE79}"/>
              </a:ext>
            </a:extLst>
          </p:cNvPr>
          <p:cNvSpPr>
            <a:spLocks noGrp="1"/>
          </p:cNvSpPr>
          <p:nvPr>
            <p:ph type="dt" sz="half" idx="10"/>
          </p:nvPr>
        </p:nvSpPr>
        <p:spPr/>
        <p:txBody>
          <a:bodyPr/>
          <a:lstStyle/>
          <a:p>
            <a:fld id="{B61BEF0D-F0BB-DE4B-95CE-6DB70DBA9567}" type="datetimeFigureOut">
              <a:rPr lang="en-US" smtClean="0"/>
              <a:pPr/>
              <a:t>11/2/2025</a:t>
            </a:fld>
            <a:endParaRPr lang="en-US" dirty="0"/>
          </a:p>
        </p:txBody>
      </p:sp>
      <p:sp>
        <p:nvSpPr>
          <p:cNvPr id="3" name="Footer Placeholder 2">
            <a:extLst>
              <a:ext uri="{FF2B5EF4-FFF2-40B4-BE49-F238E27FC236}">
                <a16:creationId xmlns:a16="http://schemas.microsoft.com/office/drawing/2014/main" id="{48272591-32BA-4839-ACAF-D9E1BF5B640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4F64108-E2C6-4302-832E-CFD389256C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8412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AC053-EEA2-453A-B716-87AD8B2AAD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A29E77A-4817-48AB-99E6-35EDCFFE12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965451D-2802-4B97-903D-B133BE81C0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6F8CD7-4676-4D34-91BA-104AAFE6F356}"/>
              </a:ext>
            </a:extLst>
          </p:cNvPr>
          <p:cNvSpPr>
            <a:spLocks noGrp="1"/>
          </p:cNvSpPr>
          <p:nvPr>
            <p:ph type="dt" sz="half" idx="10"/>
          </p:nvPr>
        </p:nvSpPr>
        <p:spPr/>
        <p:txBody>
          <a:bodyPr/>
          <a:lstStyle/>
          <a:p>
            <a:fld id="{B61BEF0D-F0BB-DE4B-95CE-6DB70DBA9567}" type="datetimeFigureOut">
              <a:rPr lang="en-US" smtClean="0"/>
              <a:pPr/>
              <a:t>11/2/2025</a:t>
            </a:fld>
            <a:endParaRPr lang="en-US" dirty="0"/>
          </a:p>
        </p:txBody>
      </p:sp>
      <p:sp>
        <p:nvSpPr>
          <p:cNvPr id="6" name="Footer Placeholder 5">
            <a:extLst>
              <a:ext uri="{FF2B5EF4-FFF2-40B4-BE49-F238E27FC236}">
                <a16:creationId xmlns:a16="http://schemas.microsoft.com/office/drawing/2014/main" id="{9AA25104-3B0A-43E3-982A-983C26F44F1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7AA7A55-48FC-4D61-BF10-3D24E783B13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78810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2A64F-4BF2-471D-89C4-3A079CBCFE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5C33302-7371-4E11-8743-38021D04D8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626607-738C-4E90-80FD-9BB6B7077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825359-5BCA-4F35-BFF0-6AB6F7AF0FD3}"/>
              </a:ext>
            </a:extLst>
          </p:cNvPr>
          <p:cNvSpPr>
            <a:spLocks noGrp="1"/>
          </p:cNvSpPr>
          <p:nvPr>
            <p:ph type="dt" sz="half" idx="10"/>
          </p:nvPr>
        </p:nvSpPr>
        <p:spPr/>
        <p:txBody>
          <a:bodyPr/>
          <a:lstStyle/>
          <a:p>
            <a:fld id="{B61BEF0D-F0BB-DE4B-95CE-6DB70DBA9567}" type="datetimeFigureOut">
              <a:rPr lang="en-US" smtClean="0"/>
              <a:pPr/>
              <a:t>11/2/2025</a:t>
            </a:fld>
            <a:endParaRPr lang="en-US" dirty="0"/>
          </a:p>
        </p:txBody>
      </p:sp>
      <p:sp>
        <p:nvSpPr>
          <p:cNvPr id="6" name="Footer Placeholder 5">
            <a:extLst>
              <a:ext uri="{FF2B5EF4-FFF2-40B4-BE49-F238E27FC236}">
                <a16:creationId xmlns:a16="http://schemas.microsoft.com/office/drawing/2014/main" id="{7F8B01BA-E5E7-4F8B-B5BB-36353E40FC6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E3998FC-06A5-4AB5-BEAB-BAE2E68F515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1791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D22A-771C-4EAE-8A6B-AB418D11C0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6C33E0-CC2B-45EA-B046-AA1C16BE71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1DA933-3300-4C23-8ED4-78C5233A90CA}"/>
              </a:ext>
            </a:extLst>
          </p:cNvPr>
          <p:cNvSpPr>
            <a:spLocks noGrp="1"/>
          </p:cNvSpPr>
          <p:nvPr>
            <p:ph type="dt" sz="half" idx="10"/>
          </p:nvPr>
        </p:nvSpPr>
        <p:spPr/>
        <p:txBody>
          <a:bodyPr/>
          <a:lstStyle/>
          <a:p>
            <a:fld id="{B61BEF0D-F0BB-DE4B-95CE-6DB70DBA9567}" type="datetimeFigureOut">
              <a:rPr lang="en-US" smtClean="0"/>
              <a:pPr/>
              <a:t>11/2/2025</a:t>
            </a:fld>
            <a:endParaRPr lang="en-US" dirty="0"/>
          </a:p>
        </p:txBody>
      </p:sp>
      <p:sp>
        <p:nvSpPr>
          <p:cNvPr id="5" name="Footer Placeholder 4">
            <a:extLst>
              <a:ext uri="{FF2B5EF4-FFF2-40B4-BE49-F238E27FC236}">
                <a16:creationId xmlns:a16="http://schemas.microsoft.com/office/drawing/2014/main" id="{51343C7D-7A54-46E3-8486-3556B565C06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9F0C307-9A6D-4ECA-BDAA-3AB27AC2B79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8689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22EB93-AF90-4AC2-8B4D-4E69DBC6A7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CBEA63-4FD0-4970-AC11-921D03DC41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8550F4-8C09-44AF-971F-D16660AB012A}"/>
              </a:ext>
            </a:extLst>
          </p:cNvPr>
          <p:cNvSpPr>
            <a:spLocks noGrp="1"/>
          </p:cNvSpPr>
          <p:nvPr>
            <p:ph type="dt" sz="half" idx="10"/>
          </p:nvPr>
        </p:nvSpPr>
        <p:spPr/>
        <p:txBody>
          <a:bodyPr/>
          <a:lstStyle/>
          <a:p>
            <a:fld id="{B61BEF0D-F0BB-DE4B-95CE-6DB70DBA9567}" type="datetimeFigureOut">
              <a:rPr lang="en-US" smtClean="0"/>
              <a:pPr/>
              <a:t>11/2/2025</a:t>
            </a:fld>
            <a:endParaRPr lang="en-US" dirty="0"/>
          </a:p>
        </p:txBody>
      </p:sp>
      <p:sp>
        <p:nvSpPr>
          <p:cNvPr id="5" name="Footer Placeholder 4">
            <a:extLst>
              <a:ext uri="{FF2B5EF4-FFF2-40B4-BE49-F238E27FC236}">
                <a16:creationId xmlns:a16="http://schemas.microsoft.com/office/drawing/2014/main" id="{47B34010-3167-458B-BF22-48BCB327B2F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50EEA40-BADE-4CE8-8D00-B1AEB4FD5FB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21266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A36D41-891D-4B59-98EC-744EC81FDB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4D0040-4654-4114-AD08-519C274A6E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7418B6-F1E3-48E0-9AE0-7E8B71A693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11/2/2025</a:t>
            </a:fld>
            <a:endParaRPr lang="en-US" dirty="0"/>
          </a:p>
        </p:txBody>
      </p:sp>
      <p:sp>
        <p:nvSpPr>
          <p:cNvPr id="5" name="Footer Placeholder 4">
            <a:extLst>
              <a:ext uri="{FF2B5EF4-FFF2-40B4-BE49-F238E27FC236}">
                <a16:creationId xmlns:a16="http://schemas.microsoft.com/office/drawing/2014/main" id="{3F2D50F2-0965-4EAB-A361-D4BA8DECD7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576CB43-F82B-44C5-BD02-6B8E172361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862021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mailto:aditya.rajendra.kapse@gmail.com" TargetMode="External"/><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hyperlink" Target="https://github.com/AdItYa-KaPsE/Sales-Data-Analysis-and-Dashboard" TargetMode="External"/><Relationship Id="rId4" Type="http://schemas.openxmlformats.org/officeDocument/2006/relationships/hyperlink" Target="http://www.linkedin.com/in/adityakap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a:solidFill>
            <a:schemeClr val="bg2">
              <a:lumMod val="90000"/>
              <a:alpha val="41000"/>
            </a:schemeClr>
          </a:solidFill>
        </p:spPr>
        <p:txBody>
          <a:bodyPr>
            <a:noAutofit/>
          </a:bodyPr>
          <a:lstStyle/>
          <a:p>
            <a:r>
              <a:rPr lang="en-US" sz="6000" b="1" dirty="0">
                <a:solidFill>
                  <a:schemeClr val="bg1"/>
                </a:solidFill>
              </a:rPr>
              <a:t>TABLEAU ASSIGNMENTS	</a:t>
            </a:r>
          </a:p>
        </p:txBody>
      </p:sp>
      <p:sp>
        <p:nvSpPr>
          <p:cNvPr id="4" name="TextBox 3">
            <a:extLst>
              <a:ext uri="{FF2B5EF4-FFF2-40B4-BE49-F238E27FC236}">
                <a16:creationId xmlns:a16="http://schemas.microsoft.com/office/drawing/2014/main" id="{D75E434A-A421-4769-AF90-5E0D5BDB05B3}"/>
              </a:ext>
            </a:extLst>
          </p:cNvPr>
          <p:cNvSpPr txBox="1"/>
          <p:nvPr/>
        </p:nvSpPr>
        <p:spPr>
          <a:xfrm>
            <a:off x="10179981" y="696130"/>
            <a:ext cx="2789517" cy="369332"/>
          </a:xfrm>
          <a:prstGeom prst="rect">
            <a:avLst/>
          </a:prstGeom>
          <a:noFill/>
        </p:spPr>
        <p:txBody>
          <a:bodyPr wrap="square" rtlCol="0">
            <a:spAutoFit/>
          </a:bodyPr>
          <a:lstStyle/>
          <a:p>
            <a:r>
              <a:rPr lang="en-US" b="1" dirty="0">
                <a:solidFill>
                  <a:schemeClr val="bg1"/>
                </a:solidFill>
              </a:rPr>
              <a:t>01-11-2025</a:t>
            </a:r>
            <a:endParaRPr lang="en-IN" b="1" dirty="0">
              <a:solidFill>
                <a:schemeClr val="bg1"/>
              </a:solidFill>
            </a:endParaRPr>
          </a:p>
        </p:txBody>
      </p:sp>
      <p:sp>
        <p:nvSpPr>
          <p:cNvPr id="5" name="TextBox 4">
            <a:extLst>
              <a:ext uri="{FF2B5EF4-FFF2-40B4-BE49-F238E27FC236}">
                <a16:creationId xmlns:a16="http://schemas.microsoft.com/office/drawing/2014/main" id="{4B4F07F3-95BB-44E7-AB1F-C4724ADEC0D3}"/>
              </a:ext>
            </a:extLst>
          </p:cNvPr>
          <p:cNvSpPr txBox="1"/>
          <p:nvPr/>
        </p:nvSpPr>
        <p:spPr>
          <a:xfrm>
            <a:off x="3720352" y="5977956"/>
            <a:ext cx="4347883" cy="523220"/>
          </a:xfrm>
          <a:prstGeom prst="rect">
            <a:avLst/>
          </a:prstGeom>
          <a:noFill/>
        </p:spPr>
        <p:txBody>
          <a:bodyPr wrap="square" rtlCol="0">
            <a:spAutoFit/>
          </a:bodyPr>
          <a:lstStyle/>
          <a:p>
            <a:pPr algn="ctr"/>
            <a:r>
              <a:rPr lang="en-US" b="1" dirty="0">
                <a:solidFill>
                  <a:schemeClr val="bg1"/>
                </a:solidFill>
                <a:latin typeface="Constantia" panose="02030602050306030303" pitchFamily="18" charset="0"/>
              </a:rPr>
              <a:t> Day </a:t>
            </a:r>
            <a:r>
              <a:rPr lang="en-US" sz="2800" b="1" dirty="0">
                <a:solidFill>
                  <a:schemeClr val="bg1"/>
                </a:solidFill>
                <a:latin typeface="Constantia" panose="02030602050306030303" pitchFamily="18" charset="0"/>
              </a:rPr>
              <a:t>10</a:t>
            </a:r>
            <a:r>
              <a:rPr lang="en-US" b="1" dirty="0">
                <a:solidFill>
                  <a:schemeClr val="bg1"/>
                </a:solidFill>
                <a:latin typeface="Constantia" panose="02030602050306030303" pitchFamily="18" charset="0"/>
              </a:rPr>
              <a:t> of   #50DaysOfDataAnalytics</a:t>
            </a:r>
            <a:endParaRPr lang="en-IN" b="1" dirty="0">
              <a:solidFill>
                <a:schemeClr val="bg1"/>
              </a:solidFill>
              <a:latin typeface="Constantia" panose="02030602050306030303" pitchFamily="18" charset="0"/>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CE80E8-A2D3-421D-AAFA-A5098FE66EB9}"/>
              </a:ext>
            </a:extLst>
          </p:cNvPr>
          <p:cNvSpPr txBox="1"/>
          <p:nvPr/>
        </p:nvSpPr>
        <p:spPr>
          <a:xfrm>
            <a:off x="3263153" y="779929"/>
            <a:ext cx="5235388" cy="461665"/>
          </a:xfrm>
          <a:prstGeom prst="rect">
            <a:avLst/>
          </a:prstGeom>
          <a:noFill/>
        </p:spPr>
        <p:txBody>
          <a:bodyPr wrap="square" rtlCol="0">
            <a:spAutoFit/>
          </a:bodyPr>
          <a:lstStyle/>
          <a:p>
            <a:pPr algn="ctr"/>
            <a:r>
              <a:rPr lang="en-US" sz="2400" b="1" dirty="0"/>
              <a:t>ASSIGNMENT QUESTIONS </a:t>
            </a:r>
            <a:endParaRPr lang="en-IN" sz="2400" b="1" dirty="0"/>
          </a:p>
        </p:txBody>
      </p:sp>
      <p:sp>
        <p:nvSpPr>
          <p:cNvPr id="3" name="TextBox 2">
            <a:extLst>
              <a:ext uri="{FF2B5EF4-FFF2-40B4-BE49-F238E27FC236}">
                <a16:creationId xmlns:a16="http://schemas.microsoft.com/office/drawing/2014/main" id="{3232A56D-8A06-47F3-A32A-16EE3DA4A956}"/>
              </a:ext>
            </a:extLst>
          </p:cNvPr>
          <p:cNvSpPr txBox="1"/>
          <p:nvPr/>
        </p:nvSpPr>
        <p:spPr>
          <a:xfrm>
            <a:off x="470647" y="1181602"/>
            <a:ext cx="11250706" cy="8679299"/>
          </a:xfrm>
          <a:prstGeom prst="rect">
            <a:avLst/>
          </a:prstGeom>
          <a:noFill/>
        </p:spPr>
        <p:txBody>
          <a:bodyPr wrap="square" rtlCol="0">
            <a:spAutoFit/>
          </a:bodyPr>
          <a:lstStyle/>
          <a:p>
            <a:r>
              <a:rPr lang="en-US" b="1" dirty="0"/>
              <a:t>ASSIGNMENT 1 </a:t>
            </a:r>
            <a:r>
              <a:rPr lang="en-US" dirty="0"/>
              <a:t>:</a:t>
            </a:r>
          </a:p>
          <a:p>
            <a:r>
              <a:rPr lang="en-US" dirty="0"/>
              <a:t> </a:t>
            </a:r>
            <a:r>
              <a:rPr lang="en-IN" sz="1800" dirty="0">
                <a:effectLst/>
                <a:latin typeface="Roboto" panose="02000000000000000000" pitchFamily="2" charset="0"/>
                <a:ea typeface="Arial" panose="020B0604020202020204" pitchFamily="34" charset="0"/>
                <a:cs typeface="Arial" panose="020B0604020202020204" pitchFamily="34" charset="0"/>
              </a:rPr>
              <a:t>Create a table with columns such as category, sub-category in rows and region in columns with total sales and total profit shown for each region along with grand total and percent of pane total sorted by sum of sales in descending manner as shown in below image.</a:t>
            </a:r>
          </a:p>
          <a:p>
            <a:endParaRPr lang="en-IN" sz="1800" dirty="0">
              <a:effectLst/>
              <a:latin typeface="Calibri" panose="020F0502020204030204" pitchFamily="34" charset="0"/>
              <a:ea typeface="Calibri" panose="020F0502020204030204" pitchFamily="34" charset="0"/>
            </a:endParaRPr>
          </a:p>
          <a:p>
            <a:r>
              <a:rPr lang="en-US" b="1" dirty="0"/>
              <a:t>ASSIGNMENT 2 </a:t>
            </a:r>
            <a:r>
              <a:rPr lang="en-US" dirty="0"/>
              <a:t>:</a:t>
            </a:r>
            <a:br>
              <a:rPr lang="en-IN" sz="1800" dirty="0">
                <a:effectLst/>
                <a:latin typeface="Roboto" panose="02000000000000000000" pitchFamily="2" charset="0"/>
                <a:ea typeface="Calibri" panose="020F0502020204030204" pitchFamily="34" charset="0"/>
              </a:rPr>
            </a:br>
            <a:r>
              <a:rPr lang="en-IN" sz="18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From the Netflix Titles dataset, merge tables using Inner Joins and identify the actor/actress with the highest number of appearances in Sports Movies. Provide the name of the actor/actress and the corresponding movie titles they've starred in.</a:t>
            </a:r>
          </a:p>
          <a:p>
            <a:endParaRPr lang="en-IN" sz="1800" dirty="0">
              <a:effectLst/>
              <a:latin typeface="Calibri" panose="020F0502020204030204" pitchFamily="34" charset="0"/>
              <a:ea typeface="Calibri" panose="020F0502020204030204" pitchFamily="34" charset="0"/>
            </a:endParaRPr>
          </a:p>
          <a:p>
            <a:r>
              <a:rPr lang="en-US" b="1" dirty="0"/>
              <a:t>ASSIGNMENT 3</a:t>
            </a:r>
            <a:r>
              <a:rPr lang="en-US" dirty="0"/>
              <a:t>:</a:t>
            </a:r>
          </a:p>
          <a:p>
            <a:r>
              <a:rPr lang="en-IN" sz="1800" dirty="0">
                <a:effectLst/>
                <a:latin typeface="Roboto" panose="02000000000000000000" pitchFamily="2" charset="0"/>
                <a:ea typeface="Calibri" panose="020F0502020204030204" pitchFamily="34" charset="0"/>
                <a:cs typeface="Calibri" panose="020F0502020204030204" pitchFamily="34" charset="0"/>
              </a:rPr>
              <a:t>Create a Tableau histogram displaying the count of customers based on their order frequency, with the number of orders on the x-axis and the corresponding customer count on the y-axis</a:t>
            </a:r>
          </a:p>
          <a:p>
            <a:endParaRPr lang="en-IN" dirty="0"/>
          </a:p>
          <a:p>
            <a:r>
              <a:rPr lang="en-US" b="1" dirty="0"/>
              <a:t>ASSIGNMENT 4</a:t>
            </a:r>
            <a:r>
              <a:rPr lang="en-US" dirty="0"/>
              <a:t>:</a:t>
            </a:r>
          </a:p>
          <a:p>
            <a:r>
              <a:rPr lang="en-IN" sz="1800" dirty="0">
                <a:effectLst/>
                <a:latin typeface="Roboto" panose="02000000000000000000" pitchFamily="2" charset="0"/>
                <a:ea typeface="Calibri" panose="020F0502020204030204" pitchFamily="34" charset="0"/>
              </a:rPr>
              <a:t>Create a pie chart showing Top 50 customers Vs Other customers with respect to sum of sales shown in below image.</a:t>
            </a:r>
            <a:endParaRPr lang="en-IN" sz="1800" dirty="0">
              <a:effectLst/>
              <a:latin typeface="Calibri" panose="020F0502020204030204" pitchFamily="34" charset="0"/>
              <a:ea typeface="Calibri" panose="020F0502020204030204" pitchFamily="34" charset="0"/>
            </a:endParaRPr>
          </a:p>
          <a:p>
            <a:endParaRPr lang="en-US"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613890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F5CF9C-914F-4CB9-982F-3D460BEF4E70}"/>
              </a:ext>
            </a:extLst>
          </p:cNvPr>
          <p:cNvSpPr txBox="1"/>
          <p:nvPr/>
        </p:nvSpPr>
        <p:spPr>
          <a:xfrm>
            <a:off x="591671" y="932329"/>
            <a:ext cx="11223811" cy="5089855"/>
          </a:xfrm>
          <a:prstGeom prst="rect">
            <a:avLst/>
          </a:prstGeom>
          <a:noFill/>
        </p:spPr>
        <p:txBody>
          <a:bodyPr wrap="square" rtlCol="0">
            <a:spAutoFit/>
          </a:bodyPr>
          <a:lstStyle/>
          <a:p>
            <a:r>
              <a:rPr lang="en-US" b="1" dirty="0"/>
              <a:t>ASSIGNMENT 5</a:t>
            </a:r>
            <a:r>
              <a:rPr lang="en-US" dirty="0"/>
              <a:t>:</a:t>
            </a:r>
          </a:p>
          <a:p>
            <a:endParaRPr lang="en-US" dirty="0"/>
          </a:p>
          <a:p>
            <a:pPr>
              <a:lnSpc>
                <a:spcPct val="107000"/>
              </a:lnSpc>
              <a:spcAft>
                <a:spcPts val="100"/>
              </a:spcAft>
            </a:pPr>
            <a:r>
              <a:rPr lang="en-IN" sz="18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Create a Tableau KPI card showcasing total </a:t>
            </a:r>
          </a:p>
          <a:p>
            <a:pPr marL="285750" indent="-285750">
              <a:lnSpc>
                <a:spcPct val="107000"/>
              </a:lnSpc>
              <a:spcAft>
                <a:spcPts val="100"/>
              </a:spcAft>
              <a:buFont typeface="Arial" panose="020B0604020202020204" pitchFamily="34" charset="0"/>
              <a:buChar char="•"/>
            </a:pPr>
            <a:r>
              <a:rPr lang="en-IN" sz="18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profit for the current year (last year of the dataset)</a:t>
            </a:r>
            <a:endParaRPr lang="en-IN" dirty="0">
              <a:latin typeface="Calibri" panose="020F0502020204030204" pitchFamily="34" charset="0"/>
              <a:ea typeface="Calibri" panose="020F0502020204030204" pitchFamily="34" charset="0"/>
            </a:endParaRPr>
          </a:p>
          <a:p>
            <a:pPr marL="285750" indent="-285750">
              <a:lnSpc>
                <a:spcPct val="107000"/>
              </a:lnSpc>
              <a:spcAft>
                <a:spcPts val="100"/>
              </a:spcAft>
              <a:buFont typeface="Arial" panose="020B0604020202020204" pitchFamily="34" charset="0"/>
              <a:buChar char="•"/>
            </a:pPr>
            <a:r>
              <a:rPr lang="en-IN" sz="18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percentage growth from the previous year, indicated by a green upward arrow with a "+" sign for positive growth and a red downward arrow with a "-</a:t>
            </a:r>
            <a:r>
              <a:rPr lang="en-IN" sz="1800" dirty="0" err="1">
                <a:solidFill>
                  <a:srgbClr val="0D0D0D"/>
                </a:solidFill>
                <a:effectLst/>
                <a:latin typeface="Roboto" panose="02000000000000000000" pitchFamily="2" charset="0"/>
                <a:ea typeface="Calibri" panose="020F0502020204030204" pitchFamily="34" charset="0"/>
                <a:cs typeface="Segoe UI" panose="020B0502040204020203" pitchFamily="34" charset="0"/>
              </a:rPr>
              <a:t>ve</a:t>
            </a:r>
            <a:r>
              <a:rPr lang="en-IN" sz="18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 sign for negative growth.</a:t>
            </a:r>
            <a:endParaRPr lang="en-IN" sz="1800" dirty="0">
              <a:effectLst/>
              <a:latin typeface="Calibri" panose="020F0502020204030204" pitchFamily="34" charset="0"/>
              <a:ea typeface="Calibri" panose="020F0502020204030204" pitchFamily="34" charset="0"/>
            </a:endParaRPr>
          </a:p>
          <a:p>
            <a:pPr marL="285750" indent="-285750">
              <a:spcAft>
                <a:spcPts val="100"/>
              </a:spcAft>
              <a:buFont typeface="Arial" panose="020B0604020202020204" pitchFamily="34" charset="0"/>
              <a:buChar char="•"/>
            </a:pPr>
            <a:r>
              <a:rPr lang="en-IN" sz="18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Incorporate a line chart depicting monthly profit trends for the current year. </a:t>
            </a:r>
          </a:p>
          <a:p>
            <a:pPr marL="285750" indent="-285750">
              <a:spcAft>
                <a:spcPts val="100"/>
              </a:spcAft>
              <a:buFont typeface="Arial" panose="020B0604020202020204" pitchFamily="34" charset="0"/>
              <a:buChar char="•"/>
            </a:pPr>
            <a:endParaRPr lang="en-US" dirty="0"/>
          </a:p>
          <a:p>
            <a:pPr algn="just">
              <a:lnSpc>
                <a:spcPct val="107000"/>
              </a:lnSpc>
              <a:spcAft>
                <a:spcPts val="800"/>
              </a:spcAft>
            </a:pPr>
            <a:r>
              <a:rPr lang="en-US" b="1" dirty="0"/>
              <a:t>ASSIGNMENT 6</a:t>
            </a:r>
            <a:r>
              <a:rPr lang="en-US" dirty="0"/>
              <a:t>: </a:t>
            </a:r>
            <a:endParaRPr lang="en-IN" sz="1800" dirty="0">
              <a:effectLst/>
              <a:latin typeface="Roboto" panose="02000000000000000000" pitchFamily="2" charset="0"/>
              <a:ea typeface="Calibri" panose="020F0502020204030204" pitchFamily="34" charset="0"/>
            </a:endParaRPr>
          </a:p>
          <a:p>
            <a:pPr algn="just">
              <a:lnSpc>
                <a:spcPct val="107000"/>
              </a:lnSpc>
              <a:spcAft>
                <a:spcPts val="800"/>
              </a:spcAft>
            </a:pPr>
            <a:r>
              <a:rPr lang="en-IN" sz="1800" dirty="0">
                <a:effectLst/>
                <a:latin typeface="Roboto" panose="02000000000000000000" pitchFamily="2" charset="0"/>
                <a:ea typeface="Calibri" panose="020F0502020204030204" pitchFamily="34" charset="0"/>
              </a:rPr>
              <a:t>1) Create the parameter with name as View by. Use three values in parameter i.e., Region, Category and Sub-category. If the user selects any value, then show the sum of sales with respect to the value chosen in the parameter as a bar chart. E.g., If the user selects a category, then show category wise sales. Make sure to edit the worksheet title </a:t>
            </a:r>
            <a:r>
              <a:rPr lang="en-IN" sz="1800" dirty="0" err="1">
                <a:effectLst/>
                <a:latin typeface="Roboto" panose="02000000000000000000" pitchFamily="2" charset="0"/>
                <a:ea typeface="Calibri" panose="020F0502020204030204" pitchFamily="34" charset="0"/>
              </a:rPr>
              <a:t>w.r.t.</a:t>
            </a:r>
            <a:r>
              <a:rPr lang="en-IN" sz="1800" dirty="0">
                <a:effectLst/>
                <a:latin typeface="Roboto" panose="02000000000000000000" pitchFamily="2" charset="0"/>
                <a:ea typeface="Calibri" panose="020F0502020204030204" pitchFamily="34" charset="0"/>
              </a:rPr>
              <a:t> View by value.</a:t>
            </a:r>
            <a:endParaRPr lang="en-IN" sz="1800" dirty="0">
              <a:effectLst/>
              <a:latin typeface="Calibri" panose="020F0502020204030204" pitchFamily="34" charset="0"/>
              <a:ea typeface="Calibri" panose="020F0502020204030204" pitchFamily="34" charset="0"/>
            </a:endParaRPr>
          </a:p>
          <a:p>
            <a:pPr algn="just">
              <a:lnSpc>
                <a:spcPct val="107000"/>
              </a:lnSpc>
              <a:spcAft>
                <a:spcPts val="800"/>
              </a:spcAft>
            </a:pPr>
            <a:r>
              <a:rPr lang="en-IN" sz="1800" dirty="0">
                <a:effectLst/>
                <a:latin typeface="Roboto" panose="02000000000000000000" pitchFamily="2" charset="0"/>
                <a:ea typeface="Calibri" panose="020F0502020204030204" pitchFamily="34" charset="0"/>
              </a:rPr>
              <a:t> </a:t>
            </a:r>
            <a:endParaRPr lang="en-IN" sz="1800" dirty="0">
              <a:effectLst/>
              <a:latin typeface="Calibri" panose="020F0502020204030204" pitchFamily="34" charset="0"/>
              <a:ea typeface="Calibri" panose="020F0502020204030204" pitchFamily="34" charset="0"/>
            </a:endParaRPr>
          </a:p>
          <a:p>
            <a:r>
              <a:rPr lang="en-IN" sz="1800" dirty="0">
                <a:effectLst/>
                <a:latin typeface="Roboto" panose="02000000000000000000" pitchFamily="2" charset="0"/>
                <a:ea typeface="Calibri" panose="020F0502020204030204" pitchFamily="34" charset="0"/>
                <a:cs typeface="Calibri" panose="020F0502020204030204" pitchFamily="34" charset="0"/>
              </a:rPr>
              <a:t>2) Make groups for </a:t>
            </a:r>
            <a:r>
              <a:rPr lang="en-IN" sz="1800" dirty="0" err="1">
                <a:effectLst/>
                <a:latin typeface="Roboto" panose="02000000000000000000" pitchFamily="2" charset="0"/>
                <a:ea typeface="Calibri" panose="020F0502020204030204" pitchFamily="34" charset="0"/>
                <a:cs typeface="Calibri" panose="020F0502020204030204" pitchFamily="34" charset="0"/>
              </a:rPr>
              <a:t>Acco</a:t>
            </a:r>
            <a:r>
              <a:rPr lang="en-IN" sz="1800" dirty="0">
                <a:effectLst/>
                <a:latin typeface="Roboto" panose="02000000000000000000" pitchFamily="2" charset="0"/>
                <a:ea typeface="Calibri" panose="020F0502020204030204" pitchFamily="34" charset="0"/>
                <a:cs typeface="Calibri" panose="020F0502020204030204" pitchFamily="34" charset="0"/>
              </a:rPr>
              <a:t>, 3M, Samsung, Apple, Xerox products. (For remaining products included in others folder). Display each group as an average discount percentage</a:t>
            </a:r>
            <a:endParaRPr lang="en-IN" dirty="0"/>
          </a:p>
        </p:txBody>
      </p:sp>
    </p:spTree>
    <p:extLst>
      <p:ext uri="{BB962C8B-B14F-4D97-AF65-F5344CB8AC3E}">
        <p14:creationId xmlns:p14="http://schemas.microsoft.com/office/powerpoint/2010/main" val="1333302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50B1FD-F4C0-4342-8814-9D087F756519}"/>
              </a:ext>
            </a:extLst>
          </p:cNvPr>
          <p:cNvSpPr txBox="1"/>
          <p:nvPr/>
        </p:nvSpPr>
        <p:spPr>
          <a:xfrm>
            <a:off x="3101788" y="16296"/>
            <a:ext cx="5988423" cy="523220"/>
          </a:xfrm>
          <a:prstGeom prst="rect">
            <a:avLst/>
          </a:prstGeom>
          <a:noFill/>
        </p:spPr>
        <p:txBody>
          <a:bodyPr wrap="square" rtlCol="0">
            <a:spAutoFit/>
          </a:bodyPr>
          <a:lstStyle/>
          <a:p>
            <a:pPr algn="ctr"/>
            <a:r>
              <a:rPr lang="en-US" sz="2800" b="1" dirty="0">
                <a:solidFill>
                  <a:schemeClr val="tx2"/>
                </a:solidFill>
              </a:rPr>
              <a:t>ASSIGNMENT 1 </a:t>
            </a:r>
            <a:endParaRPr lang="en-IN" sz="2800" b="1" dirty="0">
              <a:solidFill>
                <a:schemeClr val="tx2"/>
              </a:solidFill>
            </a:endParaRPr>
          </a:p>
        </p:txBody>
      </p:sp>
      <p:sp>
        <p:nvSpPr>
          <p:cNvPr id="5" name="TextBox 4">
            <a:extLst>
              <a:ext uri="{FF2B5EF4-FFF2-40B4-BE49-F238E27FC236}">
                <a16:creationId xmlns:a16="http://schemas.microsoft.com/office/drawing/2014/main" id="{399C7831-390B-41FE-A76B-1EB4BE608BAA}"/>
              </a:ext>
            </a:extLst>
          </p:cNvPr>
          <p:cNvSpPr txBox="1"/>
          <p:nvPr/>
        </p:nvSpPr>
        <p:spPr>
          <a:xfrm>
            <a:off x="367553" y="539516"/>
            <a:ext cx="11824447" cy="1077218"/>
          </a:xfrm>
          <a:prstGeom prst="rect">
            <a:avLst/>
          </a:prstGeom>
          <a:noFill/>
        </p:spPr>
        <p:txBody>
          <a:bodyPr wrap="square" rtlCol="0">
            <a:spAutoFit/>
          </a:bodyPr>
          <a:lstStyle/>
          <a:p>
            <a:r>
              <a:rPr lang="en-IN" sz="1600" dirty="0">
                <a:effectLst/>
                <a:latin typeface="Roboto" panose="02000000000000000000" pitchFamily="2" charset="0"/>
                <a:ea typeface="Arial" panose="020B0604020202020204" pitchFamily="34" charset="0"/>
                <a:cs typeface="Arial" panose="020B0604020202020204" pitchFamily="34" charset="0"/>
              </a:rPr>
              <a:t>Create a table with columns such as category, sub-category in rows and region in columns with total sales and total profit shown for each region along with grand total and percent of pane total sorted by sum of sales in descending manner as shown in below image.</a:t>
            </a:r>
          </a:p>
          <a:p>
            <a:endParaRPr lang="en-IN" sz="1600" dirty="0"/>
          </a:p>
        </p:txBody>
      </p:sp>
      <p:pic>
        <p:nvPicPr>
          <p:cNvPr id="7" name="Picture 6">
            <a:extLst>
              <a:ext uri="{FF2B5EF4-FFF2-40B4-BE49-F238E27FC236}">
                <a16:creationId xmlns:a16="http://schemas.microsoft.com/office/drawing/2014/main" id="{BDFD8D37-AC4C-4ADA-BBAB-BFD826C52392}"/>
              </a:ext>
            </a:extLst>
          </p:cNvPr>
          <p:cNvPicPr>
            <a:picLocks noChangeAspect="1"/>
          </p:cNvPicPr>
          <p:nvPr/>
        </p:nvPicPr>
        <p:blipFill>
          <a:blip r:embed="rId2"/>
          <a:stretch>
            <a:fillRect/>
          </a:stretch>
        </p:blipFill>
        <p:spPr>
          <a:xfrm>
            <a:off x="546846" y="1346314"/>
            <a:ext cx="10399059" cy="5228138"/>
          </a:xfrm>
          <a:prstGeom prst="rect">
            <a:avLst/>
          </a:prstGeom>
        </p:spPr>
      </p:pic>
    </p:spTree>
    <p:extLst>
      <p:ext uri="{BB962C8B-B14F-4D97-AF65-F5344CB8AC3E}">
        <p14:creationId xmlns:p14="http://schemas.microsoft.com/office/powerpoint/2010/main" val="2379875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50B1FD-F4C0-4342-8814-9D087F756519}"/>
              </a:ext>
            </a:extLst>
          </p:cNvPr>
          <p:cNvSpPr txBox="1"/>
          <p:nvPr/>
        </p:nvSpPr>
        <p:spPr>
          <a:xfrm>
            <a:off x="3101788" y="16296"/>
            <a:ext cx="5988423" cy="523220"/>
          </a:xfrm>
          <a:prstGeom prst="rect">
            <a:avLst/>
          </a:prstGeom>
          <a:noFill/>
        </p:spPr>
        <p:txBody>
          <a:bodyPr wrap="square" rtlCol="0">
            <a:spAutoFit/>
          </a:bodyPr>
          <a:lstStyle/>
          <a:p>
            <a:pPr algn="ctr"/>
            <a:r>
              <a:rPr lang="en-US" sz="2800" b="1" dirty="0">
                <a:solidFill>
                  <a:schemeClr val="tx2"/>
                </a:solidFill>
              </a:rPr>
              <a:t>ASSIGNMENT 2 </a:t>
            </a:r>
            <a:endParaRPr lang="en-IN" sz="2800" b="1" dirty="0">
              <a:solidFill>
                <a:schemeClr val="tx2"/>
              </a:solidFill>
            </a:endParaRPr>
          </a:p>
        </p:txBody>
      </p:sp>
      <p:sp>
        <p:nvSpPr>
          <p:cNvPr id="5" name="TextBox 4">
            <a:extLst>
              <a:ext uri="{FF2B5EF4-FFF2-40B4-BE49-F238E27FC236}">
                <a16:creationId xmlns:a16="http://schemas.microsoft.com/office/drawing/2014/main" id="{399C7831-390B-41FE-A76B-1EB4BE608BAA}"/>
              </a:ext>
            </a:extLst>
          </p:cNvPr>
          <p:cNvSpPr txBox="1"/>
          <p:nvPr/>
        </p:nvSpPr>
        <p:spPr>
          <a:xfrm>
            <a:off x="367553" y="539516"/>
            <a:ext cx="11824447" cy="1077218"/>
          </a:xfrm>
          <a:prstGeom prst="rect">
            <a:avLst/>
          </a:prstGeom>
          <a:noFill/>
        </p:spPr>
        <p:txBody>
          <a:bodyPr wrap="square" rtlCol="0">
            <a:spAutoFit/>
          </a:bodyPr>
          <a:lstStyle/>
          <a:p>
            <a:r>
              <a:rPr lang="en-IN" sz="16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From the Netflix Titles dataset, merge tables using Inner Joins and identify the actor/actress with the highest number of appearances in Sports Movies. Provide the name of the actor/actress and the corresponding movie titles they've starred in.</a:t>
            </a:r>
          </a:p>
          <a:p>
            <a:endParaRPr lang="en-IN" sz="1600" dirty="0">
              <a:effectLst/>
              <a:latin typeface="Calibri" panose="020F0502020204030204" pitchFamily="34" charset="0"/>
              <a:ea typeface="Calibri" panose="020F0502020204030204" pitchFamily="34" charset="0"/>
            </a:endParaRPr>
          </a:p>
          <a:p>
            <a:endParaRPr lang="en-IN" sz="1600" dirty="0"/>
          </a:p>
        </p:txBody>
      </p:sp>
      <p:pic>
        <p:nvPicPr>
          <p:cNvPr id="4" name="Picture 3">
            <a:extLst>
              <a:ext uri="{FF2B5EF4-FFF2-40B4-BE49-F238E27FC236}">
                <a16:creationId xmlns:a16="http://schemas.microsoft.com/office/drawing/2014/main" id="{F07A1793-2598-4038-BA96-B5B49A67B3BF}"/>
              </a:ext>
            </a:extLst>
          </p:cNvPr>
          <p:cNvPicPr>
            <a:picLocks noChangeAspect="1"/>
          </p:cNvPicPr>
          <p:nvPr/>
        </p:nvPicPr>
        <p:blipFill>
          <a:blip r:embed="rId2"/>
          <a:stretch>
            <a:fillRect/>
          </a:stretch>
        </p:blipFill>
        <p:spPr>
          <a:xfrm>
            <a:off x="2570002" y="1493080"/>
            <a:ext cx="7051993" cy="4825404"/>
          </a:xfrm>
          <a:prstGeom prst="rect">
            <a:avLst/>
          </a:prstGeom>
        </p:spPr>
      </p:pic>
    </p:spTree>
    <p:extLst>
      <p:ext uri="{BB962C8B-B14F-4D97-AF65-F5344CB8AC3E}">
        <p14:creationId xmlns:p14="http://schemas.microsoft.com/office/powerpoint/2010/main" val="3343141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50B1FD-F4C0-4342-8814-9D087F756519}"/>
              </a:ext>
            </a:extLst>
          </p:cNvPr>
          <p:cNvSpPr txBox="1"/>
          <p:nvPr/>
        </p:nvSpPr>
        <p:spPr>
          <a:xfrm>
            <a:off x="3101788" y="16296"/>
            <a:ext cx="5988423" cy="523220"/>
          </a:xfrm>
          <a:prstGeom prst="rect">
            <a:avLst/>
          </a:prstGeom>
          <a:noFill/>
        </p:spPr>
        <p:txBody>
          <a:bodyPr wrap="square" rtlCol="0">
            <a:spAutoFit/>
          </a:bodyPr>
          <a:lstStyle/>
          <a:p>
            <a:pPr algn="ctr"/>
            <a:r>
              <a:rPr lang="en-US" sz="2800" b="1" dirty="0">
                <a:solidFill>
                  <a:schemeClr val="tx2"/>
                </a:solidFill>
              </a:rPr>
              <a:t>ASSIGNMENT 3 </a:t>
            </a:r>
            <a:endParaRPr lang="en-IN" sz="2800" b="1" dirty="0">
              <a:solidFill>
                <a:schemeClr val="tx2"/>
              </a:solidFill>
            </a:endParaRPr>
          </a:p>
        </p:txBody>
      </p:sp>
      <p:sp>
        <p:nvSpPr>
          <p:cNvPr id="5" name="TextBox 4">
            <a:extLst>
              <a:ext uri="{FF2B5EF4-FFF2-40B4-BE49-F238E27FC236}">
                <a16:creationId xmlns:a16="http://schemas.microsoft.com/office/drawing/2014/main" id="{399C7831-390B-41FE-A76B-1EB4BE608BAA}"/>
              </a:ext>
            </a:extLst>
          </p:cNvPr>
          <p:cNvSpPr txBox="1"/>
          <p:nvPr/>
        </p:nvSpPr>
        <p:spPr>
          <a:xfrm>
            <a:off x="367553" y="539516"/>
            <a:ext cx="11824447" cy="1077218"/>
          </a:xfrm>
          <a:prstGeom prst="rect">
            <a:avLst/>
          </a:prstGeom>
          <a:noFill/>
        </p:spPr>
        <p:txBody>
          <a:bodyPr wrap="square" rtlCol="0">
            <a:spAutoFit/>
          </a:bodyPr>
          <a:lstStyle/>
          <a:p>
            <a:r>
              <a:rPr lang="en-IN" sz="1600" dirty="0">
                <a:effectLst/>
                <a:latin typeface="Roboto" panose="02000000000000000000" pitchFamily="2" charset="0"/>
                <a:ea typeface="Calibri" panose="020F0502020204030204" pitchFamily="34" charset="0"/>
                <a:cs typeface="Calibri" panose="020F0502020204030204" pitchFamily="34" charset="0"/>
              </a:rPr>
              <a:t>Create a Tableau histogram displaying the count of customers based on their order frequency, with the number of orders on the x-axis and the corresponding customer count on the y-axis</a:t>
            </a:r>
          </a:p>
          <a:p>
            <a:endParaRPr lang="en-IN" sz="1600" dirty="0"/>
          </a:p>
          <a:p>
            <a:endParaRPr lang="en-IN" sz="1600" dirty="0"/>
          </a:p>
        </p:txBody>
      </p:sp>
      <p:pic>
        <p:nvPicPr>
          <p:cNvPr id="4" name="Picture 3">
            <a:extLst>
              <a:ext uri="{FF2B5EF4-FFF2-40B4-BE49-F238E27FC236}">
                <a16:creationId xmlns:a16="http://schemas.microsoft.com/office/drawing/2014/main" id="{BE7EC246-FDDB-4214-A0D7-6D2A15161EF4}"/>
              </a:ext>
            </a:extLst>
          </p:cNvPr>
          <p:cNvPicPr>
            <a:picLocks noChangeAspect="1"/>
          </p:cNvPicPr>
          <p:nvPr/>
        </p:nvPicPr>
        <p:blipFill>
          <a:blip r:embed="rId2"/>
          <a:stretch>
            <a:fillRect/>
          </a:stretch>
        </p:blipFill>
        <p:spPr>
          <a:xfrm>
            <a:off x="690282" y="1359034"/>
            <a:ext cx="10300447" cy="5093157"/>
          </a:xfrm>
          <a:prstGeom prst="rect">
            <a:avLst/>
          </a:prstGeom>
        </p:spPr>
      </p:pic>
    </p:spTree>
    <p:extLst>
      <p:ext uri="{BB962C8B-B14F-4D97-AF65-F5344CB8AC3E}">
        <p14:creationId xmlns:p14="http://schemas.microsoft.com/office/powerpoint/2010/main" val="37212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50B1FD-F4C0-4342-8814-9D087F756519}"/>
              </a:ext>
            </a:extLst>
          </p:cNvPr>
          <p:cNvSpPr txBox="1"/>
          <p:nvPr/>
        </p:nvSpPr>
        <p:spPr>
          <a:xfrm>
            <a:off x="3101788" y="16296"/>
            <a:ext cx="5988423" cy="523220"/>
          </a:xfrm>
          <a:prstGeom prst="rect">
            <a:avLst/>
          </a:prstGeom>
          <a:noFill/>
        </p:spPr>
        <p:txBody>
          <a:bodyPr wrap="square" rtlCol="0">
            <a:spAutoFit/>
          </a:bodyPr>
          <a:lstStyle/>
          <a:p>
            <a:pPr algn="ctr"/>
            <a:r>
              <a:rPr lang="en-US" sz="2800" b="1" dirty="0">
                <a:solidFill>
                  <a:schemeClr val="tx2"/>
                </a:solidFill>
              </a:rPr>
              <a:t>ASSIGNMENT 4 </a:t>
            </a:r>
            <a:endParaRPr lang="en-IN" sz="2800" b="1" dirty="0">
              <a:solidFill>
                <a:schemeClr val="tx2"/>
              </a:solidFill>
            </a:endParaRPr>
          </a:p>
        </p:txBody>
      </p:sp>
      <p:sp>
        <p:nvSpPr>
          <p:cNvPr id="5" name="TextBox 4">
            <a:extLst>
              <a:ext uri="{FF2B5EF4-FFF2-40B4-BE49-F238E27FC236}">
                <a16:creationId xmlns:a16="http://schemas.microsoft.com/office/drawing/2014/main" id="{399C7831-390B-41FE-A76B-1EB4BE608BAA}"/>
              </a:ext>
            </a:extLst>
          </p:cNvPr>
          <p:cNvSpPr txBox="1"/>
          <p:nvPr/>
        </p:nvSpPr>
        <p:spPr>
          <a:xfrm>
            <a:off x="367553" y="539516"/>
            <a:ext cx="11824447" cy="584775"/>
          </a:xfrm>
          <a:prstGeom prst="rect">
            <a:avLst/>
          </a:prstGeom>
          <a:noFill/>
        </p:spPr>
        <p:txBody>
          <a:bodyPr wrap="square" rtlCol="0">
            <a:spAutoFit/>
          </a:bodyPr>
          <a:lstStyle/>
          <a:p>
            <a:r>
              <a:rPr lang="en-IN" sz="1600" dirty="0">
                <a:effectLst/>
                <a:latin typeface="Roboto" panose="02000000000000000000" pitchFamily="2" charset="0"/>
                <a:ea typeface="Calibri" panose="020F0502020204030204" pitchFamily="34" charset="0"/>
              </a:rPr>
              <a:t>Create a pie chart showing Top 50 customers Vs Other customers with respect to sum of sales shown in below image</a:t>
            </a:r>
            <a:endParaRPr lang="en-IN" sz="1600" dirty="0"/>
          </a:p>
          <a:p>
            <a:endParaRPr lang="en-IN" sz="1600" dirty="0"/>
          </a:p>
        </p:txBody>
      </p:sp>
      <p:pic>
        <p:nvPicPr>
          <p:cNvPr id="6" name="Picture 5">
            <a:extLst>
              <a:ext uri="{FF2B5EF4-FFF2-40B4-BE49-F238E27FC236}">
                <a16:creationId xmlns:a16="http://schemas.microsoft.com/office/drawing/2014/main" id="{4F50FA68-40B9-483C-8241-2901B6EE189F}"/>
              </a:ext>
            </a:extLst>
          </p:cNvPr>
          <p:cNvPicPr>
            <a:picLocks noChangeAspect="1"/>
          </p:cNvPicPr>
          <p:nvPr/>
        </p:nvPicPr>
        <p:blipFill>
          <a:blip r:embed="rId2"/>
          <a:stretch>
            <a:fillRect/>
          </a:stretch>
        </p:blipFill>
        <p:spPr>
          <a:xfrm>
            <a:off x="2776073" y="1393941"/>
            <a:ext cx="6639852" cy="5020376"/>
          </a:xfrm>
          <a:prstGeom prst="rect">
            <a:avLst/>
          </a:prstGeom>
        </p:spPr>
      </p:pic>
    </p:spTree>
    <p:extLst>
      <p:ext uri="{BB962C8B-B14F-4D97-AF65-F5344CB8AC3E}">
        <p14:creationId xmlns:p14="http://schemas.microsoft.com/office/powerpoint/2010/main" val="3805653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50B1FD-F4C0-4342-8814-9D087F756519}"/>
              </a:ext>
            </a:extLst>
          </p:cNvPr>
          <p:cNvSpPr txBox="1"/>
          <p:nvPr/>
        </p:nvSpPr>
        <p:spPr>
          <a:xfrm>
            <a:off x="3101788" y="16296"/>
            <a:ext cx="5988423" cy="523220"/>
          </a:xfrm>
          <a:prstGeom prst="rect">
            <a:avLst/>
          </a:prstGeom>
          <a:noFill/>
        </p:spPr>
        <p:txBody>
          <a:bodyPr wrap="square" rtlCol="0">
            <a:spAutoFit/>
          </a:bodyPr>
          <a:lstStyle/>
          <a:p>
            <a:pPr algn="ctr"/>
            <a:r>
              <a:rPr lang="en-US" sz="2800" b="1" dirty="0">
                <a:solidFill>
                  <a:schemeClr val="tx2"/>
                </a:solidFill>
              </a:rPr>
              <a:t>ASSIGNMENT 5</a:t>
            </a:r>
            <a:endParaRPr lang="en-IN" sz="2800" b="1" dirty="0">
              <a:solidFill>
                <a:schemeClr val="tx2"/>
              </a:solidFill>
            </a:endParaRPr>
          </a:p>
        </p:txBody>
      </p:sp>
      <p:sp>
        <p:nvSpPr>
          <p:cNvPr id="5" name="TextBox 4">
            <a:extLst>
              <a:ext uri="{FF2B5EF4-FFF2-40B4-BE49-F238E27FC236}">
                <a16:creationId xmlns:a16="http://schemas.microsoft.com/office/drawing/2014/main" id="{399C7831-390B-41FE-A76B-1EB4BE608BAA}"/>
              </a:ext>
            </a:extLst>
          </p:cNvPr>
          <p:cNvSpPr txBox="1"/>
          <p:nvPr/>
        </p:nvSpPr>
        <p:spPr>
          <a:xfrm>
            <a:off x="367553" y="539516"/>
            <a:ext cx="11824447" cy="1689950"/>
          </a:xfrm>
          <a:prstGeom prst="rect">
            <a:avLst/>
          </a:prstGeom>
          <a:noFill/>
        </p:spPr>
        <p:txBody>
          <a:bodyPr wrap="square" rtlCol="0">
            <a:spAutoFit/>
          </a:bodyPr>
          <a:lstStyle/>
          <a:p>
            <a:pPr>
              <a:lnSpc>
                <a:spcPct val="107000"/>
              </a:lnSpc>
              <a:spcAft>
                <a:spcPts val="100"/>
              </a:spcAft>
            </a:pPr>
            <a:r>
              <a:rPr lang="en-IN" sz="16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Create a Tableau KPI card showcasing total </a:t>
            </a:r>
          </a:p>
          <a:p>
            <a:pPr marL="285750" indent="-285750">
              <a:lnSpc>
                <a:spcPct val="107000"/>
              </a:lnSpc>
              <a:spcAft>
                <a:spcPts val="100"/>
              </a:spcAft>
              <a:buFont typeface="Arial" panose="020B0604020202020204" pitchFamily="34" charset="0"/>
              <a:buChar char="•"/>
            </a:pPr>
            <a:r>
              <a:rPr lang="en-IN" sz="16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profit for the current year (last year of the dataset)</a:t>
            </a:r>
            <a:endParaRPr lang="en-IN" sz="1600" dirty="0">
              <a:latin typeface="Calibri" panose="020F0502020204030204" pitchFamily="34" charset="0"/>
              <a:ea typeface="Calibri" panose="020F0502020204030204" pitchFamily="34" charset="0"/>
            </a:endParaRPr>
          </a:p>
          <a:p>
            <a:pPr marL="285750" indent="-285750">
              <a:lnSpc>
                <a:spcPct val="107000"/>
              </a:lnSpc>
              <a:spcAft>
                <a:spcPts val="100"/>
              </a:spcAft>
              <a:buFont typeface="Arial" panose="020B0604020202020204" pitchFamily="34" charset="0"/>
              <a:buChar char="•"/>
            </a:pPr>
            <a:r>
              <a:rPr lang="en-IN" sz="16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percentage growth from the previous year, indicated by a green upward arrow with a "+" sign for positive growth and a red downward arrow with a "-</a:t>
            </a:r>
            <a:r>
              <a:rPr lang="en-IN" sz="1600" dirty="0" err="1">
                <a:solidFill>
                  <a:srgbClr val="0D0D0D"/>
                </a:solidFill>
                <a:effectLst/>
                <a:latin typeface="Roboto" panose="02000000000000000000" pitchFamily="2" charset="0"/>
                <a:ea typeface="Calibri" panose="020F0502020204030204" pitchFamily="34" charset="0"/>
                <a:cs typeface="Segoe UI" panose="020B0502040204020203" pitchFamily="34" charset="0"/>
              </a:rPr>
              <a:t>ve</a:t>
            </a:r>
            <a:r>
              <a:rPr lang="en-IN" sz="16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 sign for negative growth.</a:t>
            </a:r>
            <a:endParaRPr lang="en-IN" sz="1600" dirty="0">
              <a:effectLst/>
              <a:latin typeface="Calibri" panose="020F0502020204030204" pitchFamily="34" charset="0"/>
              <a:ea typeface="Calibri" panose="020F0502020204030204" pitchFamily="34" charset="0"/>
            </a:endParaRPr>
          </a:p>
          <a:p>
            <a:pPr marL="285750" indent="-285750">
              <a:spcAft>
                <a:spcPts val="100"/>
              </a:spcAft>
              <a:buFont typeface="Arial" panose="020B0604020202020204" pitchFamily="34" charset="0"/>
              <a:buChar char="•"/>
            </a:pPr>
            <a:r>
              <a:rPr lang="en-IN" sz="1600" dirty="0">
                <a:solidFill>
                  <a:srgbClr val="0D0D0D"/>
                </a:solidFill>
                <a:effectLst/>
                <a:latin typeface="Roboto" panose="02000000000000000000" pitchFamily="2" charset="0"/>
                <a:ea typeface="Calibri" panose="020F0502020204030204" pitchFamily="34" charset="0"/>
                <a:cs typeface="Segoe UI" panose="020B0502040204020203" pitchFamily="34" charset="0"/>
              </a:rPr>
              <a:t>Incorporate a line chart depicting monthly profit trends for the current year. </a:t>
            </a:r>
          </a:p>
          <a:p>
            <a:pPr marL="285750" indent="-285750">
              <a:spcAft>
                <a:spcPts val="100"/>
              </a:spcAft>
              <a:buFont typeface="Arial" panose="020B0604020202020204" pitchFamily="34" charset="0"/>
              <a:buChar char="•"/>
            </a:pPr>
            <a:endParaRPr lang="en-US" sz="1600" dirty="0"/>
          </a:p>
        </p:txBody>
      </p:sp>
      <p:pic>
        <p:nvPicPr>
          <p:cNvPr id="4" name="Picture 3">
            <a:extLst>
              <a:ext uri="{FF2B5EF4-FFF2-40B4-BE49-F238E27FC236}">
                <a16:creationId xmlns:a16="http://schemas.microsoft.com/office/drawing/2014/main" id="{053A4F6E-5895-4A2B-8C08-D88B8E5DF688}"/>
              </a:ext>
            </a:extLst>
          </p:cNvPr>
          <p:cNvPicPr>
            <a:picLocks noChangeAspect="1"/>
          </p:cNvPicPr>
          <p:nvPr/>
        </p:nvPicPr>
        <p:blipFill>
          <a:blip r:embed="rId2"/>
          <a:stretch>
            <a:fillRect/>
          </a:stretch>
        </p:blipFill>
        <p:spPr>
          <a:xfrm>
            <a:off x="2761129" y="2752686"/>
            <a:ext cx="6015550" cy="2949853"/>
          </a:xfrm>
          <a:prstGeom prst="rect">
            <a:avLst/>
          </a:prstGeom>
        </p:spPr>
      </p:pic>
    </p:spTree>
    <p:extLst>
      <p:ext uri="{BB962C8B-B14F-4D97-AF65-F5344CB8AC3E}">
        <p14:creationId xmlns:p14="http://schemas.microsoft.com/office/powerpoint/2010/main" val="3369187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50B1FD-F4C0-4342-8814-9D087F756519}"/>
              </a:ext>
            </a:extLst>
          </p:cNvPr>
          <p:cNvSpPr txBox="1"/>
          <p:nvPr/>
        </p:nvSpPr>
        <p:spPr>
          <a:xfrm>
            <a:off x="3101788" y="16296"/>
            <a:ext cx="5988423" cy="523220"/>
          </a:xfrm>
          <a:prstGeom prst="rect">
            <a:avLst/>
          </a:prstGeom>
          <a:noFill/>
        </p:spPr>
        <p:txBody>
          <a:bodyPr wrap="square" rtlCol="0">
            <a:spAutoFit/>
          </a:bodyPr>
          <a:lstStyle/>
          <a:p>
            <a:pPr algn="ctr"/>
            <a:r>
              <a:rPr lang="en-US" sz="2800" b="1" dirty="0">
                <a:solidFill>
                  <a:schemeClr val="tx2"/>
                </a:solidFill>
              </a:rPr>
              <a:t>ASSIGNMENT 6 - a</a:t>
            </a:r>
            <a:endParaRPr lang="en-IN" sz="2800" b="1" dirty="0">
              <a:solidFill>
                <a:schemeClr val="tx2"/>
              </a:solidFill>
            </a:endParaRPr>
          </a:p>
        </p:txBody>
      </p:sp>
      <p:sp>
        <p:nvSpPr>
          <p:cNvPr id="5" name="TextBox 4">
            <a:extLst>
              <a:ext uri="{FF2B5EF4-FFF2-40B4-BE49-F238E27FC236}">
                <a16:creationId xmlns:a16="http://schemas.microsoft.com/office/drawing/2014/main" id="{399C7831-390B-41FE-A76B-1EB4BE608BAA}"/>
              </a:ext>
            </a:extLst>
          </p:cNvPr>
          <p:cNvSpPr txBox="1"/>
          <p:nvPr/>
        </p:nvSpPr>
        <p:spPr>
          <a:xfrm>
            <a:off x="367553" y="539516"/>
            <a:ext cx="11824447" cy="1323439"/>
          </a:xfrm>
          <a:prstGeom prst="rect">
            <a:avLst/>
          </a:prstGeom>
          <a:noFill/>
        </p:spPr>
        <p:txBody>
          <a:bodyPr wrap="square" rtlCol="0">
            <a:spAutoFit/>
          </a:bodyPr>
          <a:lstStyle/>
          <a:p>
            <a:pPr marL="342900" indent="-342900" algn="just">
              <a:buFont typeface="+mj-lt"/>
              <a:buAutoNum type="arabicPeriod"/>
            </a:pPr>
            <a:r>
              <a:rPr lang="en-IN" sz="1600" dirty="0">
                <a:effectLst/>
                <a:latin typeface="Roboto" panose="02000000000000000000" pitchFamily="2" charset="0"/>
                <a:ea typeface="Calibri" panose="020F0502020204030204" pitchFamily="34" charset="0"/>
              </a:rPr>
              <a:t>Create the parameter with name as View by. Use three values in parameter i.e., Region, Category and Sub-category. </a:t>
            </a:r>
          </a:p>
          <a:p>
            <a:pPr algn="just"/>
            <a:r>
              <a:rPr lang="en-IN" sz="1600" dirty="0">
                <a:effectLst/>
                <a:latin typeface="Roboto" panose="02000000000000000000" pitchFamily="2" charset="0"/>
                <a:ea typeface="Calibri" panose="020F0502020204030204" pitchFamily="34" charset="0"/>
              </a:rPr>
              <a:t>If the user selects any value, then show the sum of sales with respect to the value chosen in the parameter as a bar chart. E.g., If the user selects a category, then show category wise sales. Make sure to edit the worksheet title </a:t>
            </a:r>
            <a:r>
              <a:rPr lang="en-IN" sz="1600" dirty="0" err="1">
                <a:effectLst/>
                <a:latin typeface="Roboto" panose="02000000000000000000" pitchFamily="2" charset="0"/>
                <a:ea typeface="Calibri" panose="020F0502020204030204" pitchFamily="34" charset="0"/>
              </a:rPr>
              <a:t>w.r.t.</a:t>
            </a:r>
            <a:r>
              <a:rPr lang="en-IN" sz="1600" dirty="0">
                <a:effectLst/>
                <a:latin typeface="Roboto" panose="02000000000000000000" pitchFamily="2" charset="0"/>
                <a:ea typeface="Calibri" panose="020F0502020204030204" pitchFamily="34" charset="0"/>
              </a:rPr>
              <a:t> View by value.</a:t>
            </a:r>
            <a:endParaRPr lang="en-IN" sz="1600" dirty="0">
              <a:effectLst/>
              <a:latin typeface="Calibri" panose="020F0502020204030204" pitchFamily="34" charset="0"/>
              <a:ea typeface="Calibri" panose="020F0502020204030204" pitchFamily="34" charset="0"/>
            </a:endParaRPr>
          </a:p>
          <a:p>
            <a:pPr algn="just"/>
            <a:r>
              <a:rPr lang="en-IN" sz="1600" dirty="0">
                <a:effectLst/>
                <a:latin typeface="Roboto" panose="02000000000000000000" pitchFamily="2" charset="0"/>
                <a:ea typeface="Calibri" panose="020F0502020204030204" pitchFamily="34" charset="0"/>
              </a:rPr>
              <a:t> </a:t>
            </a:r>
            <a:endParaRPr lang="en-IN" sz="1600" dirty="0">
              <a:effectLst/>
              <a:latin typeface="Calibri" panose="020F0502020204030204" pitchFamily="34" charset="0"/>
              <a:ea typeface="Calibri" panose="020F0502020204030204" pitchFamily="34" charset="0"/>
            </a:endParaRPr>
          </a:p>
          <a:p>
            <a:pPr>
              <a:spcAft>
                <a:spcPts val="100"/>
              </a:spcAft>
            </a:pPr>
            <a:endParaRPr lang="en-US" sz="1600" dirty="0"/>
          </a:p>
        </p:txBody>
      </p:sp>
      <p:pic>
        <p:nvPicPr>
          <p:cNvPr id="6" name="Picture 5">
            <a:extLst>
              <a:ext uri="{FF2B5EF4-FFF2-40B4-BE49-F238E27FC236}">
                <a16:creationId xmlns:a16="http://schemas.microsoft.com/office/drawing/2014/main" id="{7A717CDB-CFC4-42C9-9A46-81070B54088E}"/>
              </a:ext>
            </a:extLst>
          </p:cNvPr>
          <p:cNvPicPr>
            <a:picLocks noChangeAspect="1"/>
          </p:cNvPicPr>
          <p:nvPr/>
        </p:nvPicPr>
        <p:blipFill>
          <a:blip r:embed="rId2"/>
          <a:stretch>
            <a:fillRect/>
          </a:stretch>
        </p:blipFill>
        <p:spPr>
          <a:xfrm>
            <a:off x="1945341" y="1687754"/>
            <a:ext cx="8319481" cy="4829587"/>
          </a:xfrm>
          <a:prstGeom prst="rect">
            <a:avLst/>
          </a:prstGeom>
        </p:spPr>
      </p:pic>
    </p:spTree>
    <p:extLst>
      <p:ext uri="{BB962C8B-B14F-4D97-AF65-F5344CB8AC3E}">
        <p14:creationId xmlns:p14="http://schemas.microsoft.com/office/powerpoint/2010/main" val="3961435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50B1FD-F4C0-4342-8814-9D087F756519}"/>
              </a:ext>
            </a:extLst>
          </p:cNvPr>
          <p:cNvSpPr txBox="1"/>
          <p:nvPr/>
        </p:nvSpPr>
        <p:spPr>
          <a:xfrm>
            <a:off x="3101788" y="16296"/>
            <a:ext cx="5988423" cy="523220"/>
          </a:xfrm>
          <a:prstGeom prst="rect">
            <a:avLst/>
          </a:prstGeom>
          <a:noFill/>
        </p:spPr>
        <p:txBody>
          <a:bodyPr wrap="square" rtlCol="0">
            <a:spAutoFit/>
          </a:bodyPr>
          <a:lstStyle/>
          <a:p>
            <a:pPr algn="ctr"/>
            <a:r>
              <a:rPr lang="en-US" sz="2800" b="1" dirty="0">
                <a:solidFill>
                  <a:schemeClr val="tx2"/>
                </a:solidFill>
              </a:rPr>
              <a:t>ASSIGNMENT 6 - b</a:t>
            </a:r>
            <a:endParaRPr lang="en-IN" sz="2800" b="1" dirty="0">
              <a:solidFill>
                <a:schemeClr val="tx2"/>
              </a:solidFill>
            </a:endParaRPr>
          </a:p>
        </p:txBody>
      </p:sp>
      <p:sp>
        <p:nvSpPr>
          <p:cNvPr id="5" name="TextBox 4">
            <a:extLst>
              <a:ext uri="{FF2B5EF4-FFF2-40B4-BE49-F238E27FC236}">
                <a16:creationId xmlns:a16="http://schemas.microsoft.com/office/drawing/2014/main" id="{399C7831-390B-41FE-A76B-1EB4BE608BAA}"/>
              </a:ext>
            </a:extLst>
          </p:cNvPr>
          <p:cNvSpPr txBox="1"/>
          <p:nvPr/>
        </p:nvSpPr>
        <p:spPr>
          <a:xfrm>
            <a:off x="367553" y="539516"/>
            <a:ext cx="11824447" cy="830997"/>
          </a:xfrm>
          <a:prstGeom prst="rect">
            <a:avLst/>
          </a:prstGeom>
          <a:noFill/>
        </p:spPr>
        <p:txBody>
          <a:bodyPr wrap="square" rtlCol="0">
            <a:spAutoFit/>
          </a:bodyPr>
          <a:lstStyle/>
          <a:p>
            <a:r>
              <a:rPr lang="en-IN" sz="1600" dirty="0">
                <a:effectLst/>
                <a:latin typeface="Roboto" panose="02000000000000000000" pitchFamily="2" charset="0"/>
                <a:ea typeface="Calibri" panose="020F0502020204030204" pitchFamily="34" charset="0"/>
                <a:cs typeface="Calibri" panose="020F0502020204030204" pitchFamily="34" charset="0"/>
              </a:rPr>
              <a:t>2. Make groups for </a:t>
            </a:r>
            <a:r>
              <a:rPr lang="en-IN" sz="1600" dirty="0" err="1">
                <a:effectLst/>
                <a:latin typeface="Roboto" panose="02000000000000000000" pitchFamily="2" charset="0"/>
                <a:ea typeface="Calibri" panose="020F0502020204030204" pitchFamily="34" charset="0"/>
                <a:cs typeface="Calibri" panose="020F0502020204030204" pitchFamily="34" charset="0"/>
              </a:rPr>
              <a:t>Acco</a:t>
            </a:r>
            <a:r>
              <a:rPr lang="en-IN" sz="1600" dirty="0">
                <a:effectLst/>
                <a:latin typeface="Roboto" panose="02000000000000000000" pitchFamily="2" charset="0"/>
                <a:ea typeface="Calibri" panose="020F0502020204030204" pitchFamily="34" charset="0"/>
                <a:cs typeface="Calibri" panose="020F0502020204030204" pitchFamily="34" charset="0"/>
              </a:rPr>
              <a:t>, 3M, Samsung, Apple, Xerox products. (For remaining products included in others folder). Display each group as an average discount percentage</a:t>
            </a:r>
            <a:endParaRPr lang="en-IN" sz="1600" dirty="0"/>
          </a:p>
          <a:p>
            <a:pPr>
              <a:spcAft>
                <a:spcPts val="100"/>
              </a:spcAft>
            </a:pPr>
            <a:endParaRPr lang="en-US" sz="1600" dirty="0"/>
          </a:p>
        </p:txBody>
      </p:sp>
      <p:pic>
        <p:nvPicPr>
          <p:cNvPr id="4" name="Picture 3">
            <a:extLst>
              <a:ext uri="{FF2B5EF4-FFF2-40B4-BE49-F238E27FC236}">
                <a16:creationId xmlns:a16="http://schemas.microsoft.com/office/drawing/2014/main" id="{A22F341F-79A8-4CDD-A3E1-121504361ED1}"/>
              </a:ext>
            </a:extLst>
          </p:cNvPr>
          <p:cNvPicPr>
            <a:picLocks noChangeAspect="1"/>
          </p:cNvPicPr>
          <p:nvPr/>
        </p:nvPicPr>
        <p:blipFill>
          <a:blip r:embed="rId2"/>
          <a:stretch>
            <a:fillRect/>
          </a:stretch>
        </p:blipFill>
        <p:spPr>
          <a:xfrm>
            <a:off x="1009617" y="1281952"/>
            <a:ext cx="9622523" cy="4928937"/>
          </a:xfrm>
          <a:prstGeom prst="rect">
            <a:avLst/>
          </a:prstGeom>
        </p:spPr>
      </p:pic>
    </p:spTree>
    <p:extLst>
      <p:ext uri="{BB962C8B-B14F-4D97-AF65-F5344CB8AC3E}">
        <p14:creationId xmlns:p14="http://schemas.microsoft.com/office/powerpoint/2010/main" val="245522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169884" y="3429000"/>
            <a:ext cx="4022116" cy="2766951"/>
          </a:xfrm>
        </p:spPr>
        <p:txBody>
          <a:bodyPr>
            <a:normAutofit/>
          </a:bodyPr>
          <a:lstStyle/>
          <a:p>
            <a:r>
              <a:rPr lang="en-US" b="1" dirty="0">
                <a:solidFill>
                  <a:schemeClr val="tx2"/>
                </a:solidFill>
              </a:rPr>
              <a:t>Aditya Rajendra Kapse</a:t>
            </a:r>
          </a:p>
          <a:p>
            <a:r>
              <a:rPr lang="en-US" sz="1800" dirty="0">
                <a:solidFill>
                  <a:schemeClr val="bg2"/>
                </a:solidFill>
                <a:hlinkClick r:id="rId3"/>
              </a:rPr>
              <a:t>aditya.rajendra.kapse@gmail.com</a:t>
            </a:r>
            <a:endParaRPr lang="en-US" dirty="0">
              <a:solidFill>
                <a:schemeClr val="bg2"/>
              </a:solidFill>
              <a:hlinkClick r:id="rId4"/>
            </a:endParaRPr>
          </a:p>
          <a:p>
            <a:r>
              <a:rPr lang="en-US" dirty="0">
                <a:solidFill>
                  <a:schemeClr val="bg2"/>
                </a:solidFill>
                <a:latin typeface="Candara" panose="020E0502030303020204" pitchFamily="34" charset="0"/>
                <a:hlinkClick r:id="rId4"/>
              </a:rPr>
              <a:t>LINKEDIN </a:t>
            </a:r>
            <a:endParaRPr lang="en-US" dirty="0">
              <a:solidFill>
                <a:schemeClr val="bg2"/>
              </a:solidFill>
              <a:latin typeface="Candara" panose="020E0502030303020204" pitchFamily="34" charset="0"/>
            </a:endParaRPr>
          </a:p>
          <a:p>
            <a:r>
              <a:rPr lang="en-US" dirty="0">
                <a:solidFill>
                  <a:schemeClr val="bg2"/>
                </a:solidFill>
                <a:latin typeface="Candara" panose="020E0502030303020204" pitchFamily="34" charset="0"/>
                <a:hlinkClick r:id="rId5"/>
              </a:rPr>
              <a:t>GITHUB </a:t>
            </a:r>
            <a:endParaRPr lang="en-US" dirty="0">
              <a:solidFill>
                <a:schemeClr val="bg2"/>
              </a:solidFill>
              <a:latin typeface="Candara" panose="020E0502030303020204" pitchFamily="34" charset="0"/>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pic>
        <p:nvPicPr>
          <p:cNvPr id="1026" name="Picture 2">
            <a:extLst>
              <a:ext uri="{FF2B5EF4-FFF2-40B4-BE49-F238E27FC236}">
                <a16:creationId xmlns:a16="http://schemas.microsoft.com/office/drawing/2014/main" id="{133A94E7-5389-4135-9CC1-F122CF6F1E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19767" y="4283556"/>
            <a:ext cx="337298" cy="3372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ithub Logo - Free social media icons">
            <a:extLst>
              <a:ext uri="{FF2B5EF4-FFF2-40B4-BE49-F238E27FC236}">
                <a16:creationId xmlns:a16="http://schemas.microsoft.com/office/drawing/2014/main" id="{8BDCABD4-B052-448F-82AA-904881EBE02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86570" y="4682020"/>
            <a:ext cx="403692" cy="403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25</TotalTime>
  <Words>733</Words>
  <Application>Microsoft Office PowerPoint</Application>
  <PresentationFormat>Widescreen</PresentationFormat>
  <Paragraphs>63</Paragraphs>
  <Slides>11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Candara</vt:lpstr>
      <vt:lpstr>Constantia</vt:lpstr>
      <vt:lpstr>Roboto</vt:lpstr>
      <vt:lpstr>Office Theme</vt:lpstr>
      <vt:lpstr>TABLEAU ASSIGNMENTS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ASSIGNMENTS</dc:title>
  <dc:creator>Aditya Kapse</dc:creator>
  <cp:lastModifiedBy>Aditya Kapse</cp:lastModifiedBy>
  <cp:revision>3</cp:revision>
  <dcterms:created xsi:type="dcterms:W3CDTF">2025-11-01T19:00:27Z</dcterms:created>
  <dcterms:modified xsi:type="dcterms:W3CDTF">2025-11-01T19:26:04Z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